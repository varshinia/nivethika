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73" r:id="rId6"/>
    <p:sldId id="261" r:id="rId7"/>
    <p:sldId id="265" r:id="rId8"/>
    <p:sldId id="274" r:id="rId9"/>
    <p:sldId id="27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47AE-6C02-4555-9E57-59386342E807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35328-5E48-4217-97FA-50F300A3A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661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47AE-6C02-4555-9E57-59386342E807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35328-5E48-4217-97FA-50F300A3A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892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47AE-6C02-4555-9E57-59386342E807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35328-5E48-4217-97FA-50F300A3A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968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47AE-6C02-4555-9E57-59386342E807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35328-5E48-4217-97FA-50F300A3A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763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47AE-6C02-4555-9E57-59386342E807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35328-5E48-4217-97FA-50F300A3A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963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47AE-6C02-4555-9E57-59386342E807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35328-5E48-4217-97FA-50F300A3A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195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47AE-6C02-4555-9E57-59386342E807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35328-5E48-4217-97FA-50F300A3A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463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47AE-6C02-4555-9E57-59386342E807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35328-5E48-4217-97FA-50F300A3A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534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47AE-6C02-4555-9E57-59386342E807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35328-5E48-4217-97FA-50F300A3A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400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47AE-6C02-4555-9E57-59386342E807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35328-5E48-4217-97FA-50F300A3A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584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47AE-6C02-4555-9E57-59386342E807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35328-5E48-4217-97FA-50F300A3A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559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C347AE-6C02-4555-9E57-59386342E807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E35328-5E48-4217-97FA-50F300A3A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467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095472" y="857232"/>
            <a:ext cx="7929618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36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URBAN STREET CLEANLINESS ASSESSMENT USING </a:t>
            </a:r>
          </a:p>
          <a:p>
            <a:pPr algn="ctr"/>
            <a:r>
              <a:rPr lang="en-US" sz="36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MOBILE EDGE COMPUTING AND DEEP LANGUAGE</a:t>
            </a:r>
            <a:endParaRPr lang="en-US" sz="36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39075" y="4429133"/>
            <a:ext cx="20855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PRESENTED BY:</a:t>
            </a:r>
          </a:p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    B. NIVETHIKA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1853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2596" y="357166"/>
            <a:ext cx="8229600" cy="65321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ABSTRACT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928670"/>
            <a:ext cx="8229600" cy="539593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system uses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deep learning algorithms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to identify and classify the wastes into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two; the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categorized biodegradable trash and junk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trash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Classify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waste into different groups/types such as glass, metal, paper, and plastic etc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and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organize it into the particular waste bin without any human hand.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proposed system is tested on the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trash image dataset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which was developed and is able to achieve an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accuracy of 86%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on the dataset.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0907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2596" y="357166"/>
            <a:ext cx="8229600" cy="65321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071546"/>
            <a:ext cx="8229600" cy="5253054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Urban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street cleanliness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as one of the primary tasks of urban civilization.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At present,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amount of garbage on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streets are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uncontrollable.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>
              <a:lnSpc>
                <a:spcPct val="150000"/>
              </a:lnSpc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Faster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R-CNN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(Faster Region-Convolutional Neural Network) is used to identify street garbage categories and count the number of garbage. </a:t>
            </a:r>
          </a:p>
        </p:txBody>
      </p:sp>
    </p:spTree>
    <p:extLst>
      <p:ext uri="{BB962C8B-B14F-4D97-AF65-F5344CB8AC3E}">
        <p14:creationId xmlns:p14="http://schemas.microsoft.com/office/powerpoint/2010/main" val="196469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704088"/>
            <a:ext cx="8229600" cy="43889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STATEMENT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214422"/>
            <a:ext cx="8229600" cy="542928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endParaRPr lang="en-US" sz="21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Existing algorithms 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are used to </a:t>
            </a:r>
            <a:r>
              <a:rPr lang="en-US" sz="2100" b="1" dirty="0">
                <a:latin typeface="Times New Roman" pitchFamily="18" charset="0"/>
                <a:cs typeface="Times New Roman" pitchFamily="18" charset="0"/>
              </a:rPr>
              <a:t>detect images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 in the remote cloud platform. </a:t>
            </a:r>
          </a:p>
          <a:p>
            <a:pPr algn="just">
              <a:lnSpc>
                <a:spcPct val="150000"/>
              </a:lnSpc>
            </a:pP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Manual 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solutions </a:t>
            </a:r>
            <a:r>
              <a:rPr lang="en-US" sz="2100" b="1" dirty="0">
                <a:latin typeface="Times New Roman" pitchFamily="18" charset="0"/>
                <a:cs typeface="Times New Roman" pitchFamily="18" charset="0"/>
              </a:rPr>
              <a:t>cannot grasp garbage cleanliness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 of all the streets of the city in time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the collection of street garbage information is </a:t>
            </a:r>
            <a:r>
              <a:rPr lang="en-US" sz="2100" b="1" dirty="0">
                <a:latin typeface="Times New Roman" pitchFamily="18" charset="0"/>
                <a:cs typeface="Times New Roman" pitchFamily="18" charset="0"/>
              </a:rPr>
              <a:t>not automated 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and street cleanliness information is </a:t>
            </a:r>
            <a:r>
              <a:rPr lang="en-US" sz="2100" b="1" dirty="0">
                <a:latin typeface="Times New Roman" pitchFamily="18" charset="0"/>
                <a:cs typeface="Times New Roman" pitchFamily="18" charset="0"/>
              </a:rPr>
              <a:t>not real-time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1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8947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PROPOSED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Our objective is to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replace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human labor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way of segregating waste through automated waste management process.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waste will be classified by deep learning algorithms which will produce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cleaner and green eco-environment.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proposed dataset can be leveraged for multiple real-world Earth observation applications. 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This system can be used to automatically classify waste and help in reducing human intervention and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preventing infection and pollution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025930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704088"/>
            <a:ext cx="8229600" cy="43889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LITERATURE SURVEY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142984"/>
            <a:ext cx="8229600" cy="518161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Title 1: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Approach to the garbage collection in the "smart clean city" project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Author Name: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Andrei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Borozdukhin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Olga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Dolinina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Vitaly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Pechenkin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Existing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System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There are already exist special software and hardware systems that calculates an optimal schedule for the waste disposal.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Uses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different types of detectors, which allow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on-line control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of the level of filling of the garbage containers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Proposed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System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describe system architecture to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find time-optimal dynamic route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for garbage trucks within “Smart Clean City” project.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97707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3673" y="203200"/>
            <a:ext cx="8745653" cy="1143000"/>
          </a:xfrm>
        </p:spPr>
        <p:txBody>
          <a:bodyPr/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FLOW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297382" y="1256145"/>
            <a:ext cx="5818909" cy="52462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19967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HARDWARE USED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endParaRPr lang="en-GB" dirty="0" smtClean="0"/>
          </a:p>
          <a:p>
            <a:pPr marL="0" lvl="0" indent="0" algn="just">
              <a:buNone/>
            </a:pPr>
            <a:r>
              <a:rPr lang="en-GB" dirty="0" smtClean="0"/>
              <a:t>System</a:t>
            </a:r>
            <a:r>
              <a:rPr lang="en-GB" dirty="0"/>
              <a:t>			: 	Pentium IV 2.4 </a:t>
            </a:r>
            <a:r>
              <a:rPr lang="en-GB" dirty="0" smtClean="0"/>
              <a:t>GHz.</a:t>
            </a:r>
            <a:endParaRPr lang="en-US" dirty="0" smtClean="0"/>
          </a:p>
          <a:p>
            <a:pPr marL="0" lvl="0" indent="0" algn="just">
              <a:buNone/>
            </a:pPr>
            <a:r>
              <a:rPr lang="en-GB" dirty="0" smtClean="0"/>
              <a:t>Hard Disk           		: 	250 GB.</a:t>
            </a:r>
            <a:endParaRPr lang="en-US" dirty="0" smtClean="0"/>
          </a:p>
          <a:p>
            <a:pPr marL="0" lvl="0" indent="0" algn="just">
              <a:buNone/>
            </a:pPr>
            <a:r>
              <a:rPr lang="en-GB" dirty="0" smtClean="0"/>
              <a:t>Monitor</a:t>
            </a:r>
            <a:r>
              <a:rPr lang="en-GB" dirty="0"/>
              <a:t>			</a:t>
            </a:r>
            <a:r>
              <a:rPr lang="en-GB" dirty="0" smtClean="0"/>
              <a:t>: </a:t>
            </a:r>
            <a:r>
              <a:rPr lang="en-GB" dirty="0"/>
              <a:t>	15 VGA </a:t>
            </a:r>
            <a:r>
              <a:rPr lang="en-GB" dirty="0" smtClean="0"/>
              <a:t>Colour.</a:t>
            </a:r>
            <a:endParaRPr lang="en-US" dirty="0" smtClean="0"/>
          </a:p>
          <a:p>
            <a:pPr marL="0" lvl="0" indent="0" algn="just">
              <a:buNone/>
            </a:pPr>
            <a:r>
              <a:rPr lang="en-GB" dirty="0" smtClean="0"/>
              <a:t>Mouse			: 	Logitech.</a:t>
            </a:r>
            <a:endParaRPr lang="en-US" dirty="0" smtClean="0"/>
          </a:p>
          <a:p>
            <a:pPr marL="0" lvl="0" indent="0" algn="just">
              <a:buNone/>
            </a:pPr>
            <a:r>
              <a:rPr lang="en-GB" dirty="0" smtClean="0"/>
              <a:t>RAM				: 	4GB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1751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SOFTWARE USED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lnSpc>
                <a:spcPct val="150000"/>
              </a:lnSpc>
              <a:buNone/>
            </a:pPr>
            <a:r>
              <a:rPr lang="en-US" dirty="0" smtClean="0"/>
              <a:t>Operating system 		: 	Windows 7/10.</a:t>
            </a:r>
          </a:p>
          <a:p>
            <a:pPr marL="0" lvl="0" indent="0" algn="just">
              <a:lnSpc>
                <a:spcPct val="150000"/>
              </a:lnSpc>
              <a:buNone/>
            </a:pPr>
            <a:r>
              <a:rPr lang="en-US" dirty="0" smtClean="0"/>
              <a:t>Coding Language		: 	Python</a:t>
            </a:r>
          </a:p>
          <a:p>
            <a:pPr marL="0" lvl="0" indent="0" algn="just">
              <a:lnSpc>
                <a:spcPct val="150000"/>
              </a:lnSpc>
              <a:buNone/>
            </a:pPr>
            <a:r>
              <a:rPr lang="en-US" dirty="0" smtClean="0"/>
              <a:t>IDE				:	Anaconda</a:t>
            </a:r>
          </a:p>
          <a:p>
            <a:pPr marL="0" lvl="0" indent="0" algn="just">
              <a:lnSpc>
                <a:spcPct val="150000"/>
              </a:lnSpc>
              <a:buNone/>
            </a:pPr>
            <a:r>
              <a:rPr lang="en-US" dirty="0" smtClean="0"/>
              <a:t>Tool				:	</a:t>
            </a:r>
            <a:r>
              <a:rPr lang="en-US" dirty="0" err="1" smtClean="0"/>
              <a:t>Tensorflow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6103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6910" y="714356"/>
            <a:ext cx="8229600" cy="36745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MODULES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142984"/>
            <a:ext cx="8229600" cy="5181616"/>
          </a:xfrm>
        </p:spPr>
        <p:txBody>
          <a:bodyPr>
            <a:normAutofit/>
          </a:bodyPr>
          <a:lstStyle/>
          <a:p>
            <a:pPr lvl="0" algn="ctr"/>
            <a:endParaRPr lang="en-US" sz="2400" dirty="0" smtClean="0"/>
          </a:p>
          <a:p>
            <a:pPr lvl="0"/>
            <a:endParaRPr lang="en-US" sz="2400" dirty="0"/>
          </a:p>
          <a:p>
            <a:pPr lvl="0">
              <a:lnSpc>
                <a:spcPct val="100000"/>
              </a:lnSpc>
            </a:pPr>
            <a:r>
              <a:rPr lang="en-US" sz="2400" dirty="0" smtClean="0"/>
              <a:t>Dataset </a:t>
            </a:r>
            <a:r>
              <a:rPr lang="en-US" sz="2400" dirty="0"/>
              <a:t>Generation</a:t>
            </a:r>
          </a:p>
          <a:p>
            <a:pPr lvl="0">
              <a:lnSpc>
                <a:spcPct val="100000"/>
              </a:lnSpc>
            </a:pPr>
            <a:r>
              <a:rPr lang="en-US" sz="2400" dirty="0"/>
              <a:t>Image Detection </a:t>
            </a:r>
          </a:p>
          <a:p>
            <a:pPr lvl="0">
              <a:lnSpc>
                <a:spcPct val="100000"/>
              </a:lnSpc>
            </a:pPr>
            <a:r>
              <a:rPr lang="en-US" sz="2400" dirty="0"/>
              <a:t>Cleanliness Assessment And Exhibition</a:t>
            </a:r>
          </a:p>
          <a:p>
            <a:pPr lvl="0">
              <a:lnSpc>
                <a:spcPct val="100000"/>
              </a:lnSpc>
            </a:pPr>
            <a:r>
              <a:rPr lang="en-US" sz="2400" dirty="0"/>
              <a:t>Faster R-CNN</a:t>
            </a:r>
          </a:p>
          <a:p>
            <a:pPr lvl="0">
              <a:lnSpc>
                <a:spcPct val="100000"/>
              </a:lnSpc>
            </a:pPr>
            <a:r>
              <a:rPr lang="en-US" sz="2400" dirty="0"/>
              <a:t>SVM Classification </a:t>
            </a:r>
          </a:p>
          <a:p>
            <a:pPr algn="just">
              <a:lnSpc>
                <a:spcPct val="150000"/>
              </a:lnSpc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0754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24034" y="357166"/>
            <a:ext cx="8229600" cy="36745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DATASET GENERATION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714356"/>
            <a:ext cx="8229600" cy="592935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Deep neural networks require large amount of training data. The dataset, which includes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channel parameters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aerial/satellite images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parameters of latitude and longitude are used to analyze the street with object and the corresponding image area added to the dataset. 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Select a random sampling method and take some streets from all streets of the city as samples, which can eliminate subjectivity and minimize the impact on accuracy results. 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INPUT DESIGN: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Raw Datasets 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OUTPUT DESIGN: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Training Datasets</a:t>
            </a:r>
          </a:p>
        </p:txBody>
      </p:sp>
    </p:spTree>
    <p:extLst>
      <p:ext uri="{BB962C8B-B14F-4D97-AF65-F5344CB8AC3E}">
        <p14:creationId xmlns:p14="http://schemas.microsoft.com/office/powerpoint/2010/main" val="3941232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428604"/>
            <a:ext cx="9144000" cy="581772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   IMAGE DETECTION 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214422"/>
            <a:ext cx="8229600" cy="5110178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To address optimize the model iterative through three stages of training and select network to extract garbage image features. 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Send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road images collected on every street to the Faster R-CNN classifier and use the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trained garbage model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to detect the garbage on the street.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garbage objects identified are marked in rectangular boxes and the value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represents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 probability of determining whether the object is a garbage category. 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INPUT DESIGN: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Training Datasets with Noisy images. 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OUTPUT DESIGN: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Object Detection with removed noisy.</a:t>
            </a:r>
          </a:p>
        </p:txBody>
      </p:sp>
    </p:spTree>
    <p:extLst>
      <p:ext uri="{BB962C8B-B14F-4D97-AF65-F5344CB8AC3E}">
        <p14:creationId xmlns:p14="http://schemas.microsoft.com/office/powerpoint/2010/main" val="2910597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735282"/>
            <a:ext cx="8813049" cy="581772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 smtClean="0"/>
              <a:t>CLEANLINESS ASSESSMENT AND EXHIBITION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214422"/>
            <a:ext cx="8229600" cy="511017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Through the calculation, we can obtain the total weighting of garbage in every street. </a:t>
            </a:r>
          </a:p>
          <a:p>
            <a:pPr algn="just">
              <a:lnSpc>
                <a:spcPct val="150000"/>
              </a:lnSpc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The separation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of the accumulated waste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is based on the combination of Faster Region-Convolutional Neural Network (Faster R-CNN) and Support Vector Machine (SVM), the algorithms, that is,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deals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with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recognition and classification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INPUT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DESIGN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 Object Recognize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OUTPUT DESIGN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 Trash Detection with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Accuracy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35793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704088"/>
            <a:ext cx="8229600" cy="65321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ADVANTAGES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428736"/>
            <a:ext cx="8229600" cy="4895864"/>
          </a:xfrm>
        </p:spPr>
        <p:txBody>
          <a:bodyPr>
            <a:normAutofit/>
          </a:bodyPr>
          <a:lstStyle/>
          <a:p>
            <a:pPr lvl="0" algn="just">
              <a:lnSpc>
                <a:spcPct val="150000"/>
              </a:lnSpc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Reduce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costs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in cleaning underground water systems for cities.</a:t>
            </a:r>
          </a:p>
          <a:p>
            <a:pPr lvl="0" algn="just">
              <a:lnSpc>
                <a:spcPct val="150000"/>
              </a:lnSpc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Time-optimized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dynamic route for garbage collection trucks</a:t>
            </a:r>
          </a:p>
          <a:p>
            <a:pPr lvl="0" algn="just">
              <a:lnSpc>
                <a:spcPct val="150000"/>
              </a:lnSpc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pend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shorter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time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from the garbage collection area to the landfill area. 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1694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704088"/>
            <a:ext cx="8229600" cy="58177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357298"/>
            <a:ext cx="8229600" cy="496730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More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accurate classification are done with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alert system. 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separation process of the waste will be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faster and intelligent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using our system without or reducing human involvement. 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Street cleanliness is one of the concerns for smart cities.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It proposes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 novel urban street cleanliness assessment approach using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mobile edge computing and deep learning</a:t>
            </a:r>
            <a:r>
              <a:rPr lang="en-US" sz="2400" dirty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92642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704088"/>
            <a:ext cx="8229600" cy="3153540"/>
          </a:xfrm>
        </p:spPr>
        <p:txBody>
          <a:bodyPr/>
          <a:lstStyle/>
          <a:p>
            <a:pPr algn="ctr"/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79880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803</Words>
  <Application>Microsoft Office PowerPoint</Application>
  <PresentationFormat>Widescreen</PresentationFormat>
  <Paragraphs>85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Wingdings</vt:lpstr>
      <vt:lpstr>Office Theme</vt:lpstr>
      <vt:lpstr> </vt:lpstr>
      <vt:lpstr>ABSTRACT</vt:lpstr>
      <vt:lpstr>INTRODUCTION</vt:lpstr>
      <vt:lpstr>PROBLEM STATEMENT</vt:lpstr>
      <vt:lpstr>PROPOSED SYSTEM</vt:lpstr>
      <vt:lpstr>LITERATURE SURVEY</vt:lpstr>
      <vt:lpstr>DATA FLOW DIAGRAM</vt:lpstr>
      <vt:lpstr>HARDWARE USED</vt:lpstr>
      <vt:lpstr>SOFTWARE USED</vt:lpstr>
      <vt:lpstr>  MODULES</vt:lpstr>
      <vt:lpstr>DATASET GENERATION</vt:lpstr>
      <vt:lpstr>   IMAGE DETECTION </vt:lpstr>
      <vt:lpstr>CLEANLINESS ASSESSMENT AND EXHIBITION</vt:lpstr>
      <vt:lpstr>ADVANTAGES</vt:lpstr>
      <vt:lpstr>CONCLUSION</vt:lpstr>
      <vt:lpstr>THANK YOU</vt:lpstr>
    </vt:vector>
  </TitlesOfParts>
  <Company>Cognizant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A, Amirtha Varshini (Cognizant)</dc:creator>
  <cp:lastModifiedBy>A, Amirtha Varshini (Cognizant)</cp:lastModifiedBy>
  <cp:revision>6</cp:revision>
  <dcterms:created xsi:type="dcterms:W3CDTF">2020-09-21T13:46:57Z</dcterms:created>
  <dcterms:modified xsi:type="dcterms:W3CDTF">2020-09-21T14:34:40Z</dcterms:modified>
</cp:coreProperties>
</file>